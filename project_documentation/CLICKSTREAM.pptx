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74" r:id="rId12"/>
    <p:sldId id="275" r:id="rId13"/>
    <p:sldId id="276" r:id="rId14"/>
    <p:sldId id="267" r:id="rId15"/>
    <p:sldId id="269" r:id="rId16"/>
    <p:sldId id="268" r:id="rId17"/>
    <p:sldId id="266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829DB-1126-4035-8CD8-C156DFF0ECDE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EFBD1-8CA6-4EE8-999F-E5E82FF53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11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FBD1-8CA6-4EE8-999F-E5E82FF5350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296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EFBD1-8CA6-4EE8-999F-E5E82FF5350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126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B9095-44E3-F032-653E-5BFB62FDC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9537F-523A-D01A-51DE-8006BD355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4F203-5EB1-3AD0-D059-8F8B30FE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53458-27B4-D748-990F-A801C163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DF07E-0AAD-A11C-2A3E-CDDF63D6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90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F155-F5D2-4E36-7AF5-0E109CA5B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945F0-482E-03B5-F2E1-FB402B869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2AE4B-EFAD-8AC9-9CB6-2691696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4D44C-FCC4-1BA6-1E76-90B140AF4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95DAF-748E-844F-C154-77801916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47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3FA08-08C2-5D86-8ADF-4DD541CF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64D19-5023-49BC-FAF0-1285B5111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0EFE1-BAA4-BE86-F102-86E26490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6D6B0-9B45-5604-1105-6B3240DD3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25BA7-9599-D213-D730-CE359257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195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B518-A566-5BFC-D4F6-21FBD8AB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40E3D-D038-79D9-EF1E-555AEE590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D1AB7-1668-7973-FAD5-10F46F6EB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FD780-BD78-2E09-47BA-4FF53DA67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BC413-A493-CC28-E5D9-77DE7B35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EE2E3-8EC4-989C-5DEB-ACEE5A03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34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C849C-2E09-C42C-ABE9-CFB5D4A43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0A6F9-696D-4738-7199-54FB42C4E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26660-5313-6E13-C275-74FCAAF38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75C21-159B-1246-1BAF-488493E7C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D09A9F-460C-1943-4C7D-629E7C81C4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26DE74-6051-D661-56A0-FC130EF4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B6C7D1-2FB3-8FB8-BABE-E565E037E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4698F-9F59-5407-B1C0-0C022E00A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49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B1B9-CAC7-5F0F-C2B0-BE86A5DA9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EFF9F8-9705-B3FB-B1B9-D8E2D4930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EF9E6-6AD9-1301-A537-0D2185ADE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60047-03B8-C5E1-DF1A-4FECFF83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952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6B7E6-9451-6D49-DF33-F7EBC0CA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9078AE-411E-D914-3842-8D81C2A1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BEAC5-8E7F-A5CA-5AC0-79ECBE0D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44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861C-B42F-45E0-791F-2ED50C7A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14BCA-7ED8-B031-8EA3-0E3314CC5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863D6-BDB7-68F2-5FF9-1659B091E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FCDF5-B35D-1421-AD0E-2839B1E6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3EAC4-EBB9-0E06-D106-50AB0403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855F5-68F1-D9D5-2D83-2A95CA80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93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8B9E-D4D3-2E80-C697-F1F5D9969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36756F-10DE-8100-AC0F-3F3055B33F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A5D35-3571-DF5B-CCB6-04C5C0669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86A28-7E4A-D308-D83A-437BF10AB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F687F-B740-8794-282C-26161341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CB44F-CB84-8116-9DF9-BB0C8A90D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4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63982-2EAF-AD3D-45FA-A6EC04E76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61CF6-CEA3-F097-6DD4-3E037C4D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31550-9854-7294-0553-53E7FDC41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98CAF-DD40-906A-4F7E-3439684F0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698CF-ED87-6C8C-2DDC-FA12C0A1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07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6C7A1C-7FF7-2E1D-0538-108AE7941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6C83E-88CB-59F9-47AB-25582BAB6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05990-7D74-1E1A-5358-68B1D4262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6A0F9-342C-47A9-A056-75F230CC69CB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6FEC0-28CA-9F17-E1AC-E8AF05D08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300C1-0FBB-3279-3207-497BB0C0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793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0CEF23-F1C1-FCF0-020D-4E57591F8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7AA2D-B7C5-7B47-FAB1-C9C2DD761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F4EC-FB2C-888F-F041-75BD6EC35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6A0F9-342C-47A9-A056-75F230CC69CB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6771B-239D-05CD-A855-52E00D2B50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26DEE-4C84-8015-B3DE-4A5946029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3E974-5FA2-477B-9C79-7220DD34A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61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3E3211C-73DB-D3A0-5613-6DC037DCEAC7}"/>
              </a:ext>
            </a:extLst>
          </p:cNvPr>
          <p:cNvSpPr txBox="1">
            <a:spLocks/>
          </p:cNvSpPr>
          <p:nvPr/>
        </p:nvSpPr>
        <p:spPr>
          <a:xfrm>
            <a:off x="1150070" y="725455"/>
            <a:ext cx="10086681" cy="13188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CONVERSION ANALYSIS FOR ONLINE SHOPPING USING CLICKSTREAM DATA 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F95A53B-61B3-B4D8-96B0-2F3793195079}"/>
              </a:ext>
            </a:extLst>
          </p:cNvPr>
          <p:cNvSpPr txBox="1">
            <a:spLocks/>
          </p:cNvSpPr>
          <p:nvPr/>
        </p:nvSpPr>
        <p:spPr>
          <a:xfrm>
            <a:off x="1150069" y="2121031"/>
            <a:ext cx="10086681" cy="4329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endParaRPr lang="en-IN" dirty="0"/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-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E-COMMERCE AND RETAIL ANALYTICS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KEERTHANA A</a:t>
            </a:r>
          </a:p>
        </p:txBody>
      </p:sp>
    </p:spTree>
    <p:extLst>
      <p:ext uri="{BB962C8B-B14F-4D97-AF65-F5344CB8AC3E}">
        <p14:creationId xmlns:p14="http://schemas.microsoft.com/office/powerpoint/2010/main" val="185415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E006A04-F67C-98B7-21BA-4632AE2EB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25" y="365126"/>
            <a:ext cx="10515600" cy="101118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56B391-784F-AFDF-6F03-0ED847D0F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9" y="1637089"/>
            <a:ext cx="4110088" cy="4351338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Collection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Data Cleaning &amp; Preprocessing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Exploratory Data Analysis  (EDA)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Feature Engineering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Model Development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Deployment (Streamlit)</a:t>
            </a:r>
          </a:p>
        </p:txBody>
      </p:sp>
    </p:spTree>
    <p:extLst>
      <p:ext uri="{BB962C8B-B14F-4D97-AF65-F5344CB8AC3E}">
        <p14:creationId xmlns:p14="http://schemas.microsoft.com/office/powerpoint/2010/main" val="1237745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99FA-0C72-6C88-95DB-ABE602D91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28" y="480767"/>
            <a:ext cx="10288571" cy="886120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&amp; DATA PREPROCESSING</a:t>
            </a:r>
            <a:br>
              <a:rPr lang="en-IN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2EE8D-5DB8-1824-A73D-2D66459A8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72" y="1339830"/>
            <a:ext cx="10515600" cy="4351338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ADE355-9379-4E11-F3A6-8439725D5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798" y="1921375"/>
            <a:ext cx="418576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 Online Shopping Clickstream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132,379 rows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14 columns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Types: Numerical &amp; Categorical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AAFB52-4D90-B518-632F-DC7EF8265BE3}"/>
              </a:ext>
            </a:extLst>
          </p:cNvPr>
          <p:cNvSpPr txBox="1"/>
          <p:nvPr/>
        </p:nvSpPr>
        <p:spPr>
          <a:xfrm>
            <a:off x="714867" y="3590588"/>
            <a:ext cx="60944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Date: Year, Month, Day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Session Info: Session ID,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Product Info: Category, Model, Colour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Pricing: Price, Price_2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7F181-4431-4948-48FE-6EF9248B0F1B}"/>
              </a:ext>
            </a:extLst>
          </p:cNvPr>
          <p:cNvSpPr txBox="1"/>
          <p:nvPr/>
        </p:nvSpPr>
        <p:spPr>
          <a:xfrm>
            <a:off x="5486400" y="1310127"/>
            <a:ext cx="6561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PREPROCESSING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8A72D734-323E-5D8F-2F93-34A0E0024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5398522"/>
              </p:ext>
            </p:extLst>
          </p:nvPr>
        </p:nvGraphicFramePr>
        <p:xfrm>
          <a:off x="6096000" y="2225950"/>
          <a:ext cx="5797485" cy="2567058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932495">
                  <a:extLst>
                    <a:ext uri="{9D8B030D-6E8A-4147-A177-3AD203B41FA5}">
                      <a16:colId xmlns:a16="http://schemas.microsoft.com/office/drawing/2014/main" val="4192547486"/>
                    </a:ext>
                  </a:extLst>
                </a:gridCol>
                <a:gridCol w="1932495">
                  <a:extLst>
                    <a:ext uri="{9D8B030D-6E8A-4147-A177-3AD203B41FA5}">
                      <a16:colId xmlns:a16="http://schemas.microsoft.com/office/drawing/2014/main" val="3945432451"/>
                    </a:ext>
                  </a:extLst>
                </a:gridCol>
                <a:gridCol w="1932495">
                  <a:extLst>
                    <a:ext uri="{9D8B030D-6E8A-4147-A177-3AD203B41FA5}">
                      <a16:colId xmlns:a16="http://schemas.microsoft.com/office/drawing/2014/main" val="3926349227"/>
                    </a:ext>
                  </a:extLst>
                </a:gridCol>
              </a:tblGrid>
              <a:tr h="372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Column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553703"/>
                  </a:ext>
                </a:extLst>
              </a:tr>
              <a:tr h="372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Numerical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Missing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549311"/>
                  </a:ext>
                </a:extLst>
              </a:tr>
              <a:tr h="372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Categorical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Missing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583128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Overall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Clean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Outlier detection using Boxplots</a:t>
                      </a:r>
                      <a:br>
                        <a:rPr lang="en-US" dirty="0"/>
                      </a:b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41691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AB33F71-D39C-A63E-21F8-31D3C01E4F83}"/>
              </a:ext>
            </a:extLst>
          </p:cNvPr>
          <p:cNvSpPr txBox="1"/>
          <p:nvPr/>
        </p:nvSpPr>
        <p:spPr>
          <a:xfrm>
            <a:off x="3664671" y="5951833"/>
            <a:ext cx="7245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train_cleaned.csv &amp; test_cleaned.csv saved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78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5391-F3C2-67F1-7250-E382387B1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39" y="336846"/>
            <a:ext cx="11114988" cy="1171444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&amp; BEHAVIOURAL METRICS</a:t>
            </a:r>
            <a:endParaRPr lang="en-IN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39714F-C0F5-E60D-7128-154681A94B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208122"/>
              </p:ext>
            </p:extLst>
          </p:nvPr>
        </p:nvGraphicFramePr>
        <p:xfrm>
          <a:off x="1092723" y="1508290"/>
          <a:ext cx="10515600" cy="25603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508315">
                  <a:extLst>
                    <a:ext uri="{9D8B030D-6E8A-4147-A177-3AD203B41FA5}">
                      <a16:colId xmlns:a16="http://schemas.microsoft.com/office/drawing/2014/main" val="2114624181"/>
                    </a:ext>
                  </a:extLst>
                </a:gridCol>
                <a:gridCol w="8007285">
                  <a:extLst>
                    <a:ext uri="{9D8B030D-6E8A-4147-A177-3AD203B41FA5}">
                      <a16:colId xmlns:a16="http://schemas.microsoft.com/office/drawing/2014/main" val="1506360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84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is_weekend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Indicates whether the session occurred on a weekend (1 = Weekend, 0 = Weekday)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811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total_clicks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 number of user interactions per session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422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avg_price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Average product price viewed in a session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824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max_page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Maximum page number visited during the session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944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unique_products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 of unique products viewed per session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014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high_price_view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Flags sessions where viewed price is above dataset average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8749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3C193A-C47D-C6BD-7D09-AF0C70C6CAD1}"/>
              </a:ext>
            </a:extLst>
          </p:cNvPr>
          <p:cNvSpPr txBox="1"/>
          <p:nvPr/>
        </p:nvSpPr>
        <p:spPr>
          <a:xfrm>
            <a:off x="3810785" y="4334047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Session-level behavior captured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Time-based user activity identified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Pricing sensitivity modeled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Improved representation of user intent</a:t>
            </a:r>
          </a:p>
        </p:txBody>
      </p:sp>
    </p:spTree>
    <p:extLst>
      <p:ext uri="{BB962C8B-B14F-4D97-AF65-F5344CB8AC3E}">
        <p14:creationId xmlns:p14="http://schemas.microsoft.com/office/powerpoint/2010/main" val="3983791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3F5BF-6702-E856-7093-F41C0D0E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151" y="374552"/>
            <a:ext cx="10515600" cy="78494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E20F4FC-C592-5894-2CB9-3B3523011C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68" y="1541752"/>
            <a:ext cx="5460319" cy="427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E04A9B-EFE8-200F-31C3-85D5D36BE487}"/>
              </a:ext>
            </a:extLst>
          </p:cNvPr>
          <p:cNvSpPr txBox="1"/>
          <p:nvPr/>
        </p:nvSpPr>
        <p:spPr>
          <a:xfrm>
            <a:off x="6440865" y="2382154"/>
            <a:ext cx="60944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analysis performed on session-level engineered features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Boxplots used to visualize extreme user behaviors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retained as they represent genuine customer interactions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removal applied to avoid information loss</a:t>
            </a:r>
          </a:p>
        </p:txBody>
      </p:sp>
    </p:spTree>
    <p:extLst>
      <p:ext uri="{BB962C8B-B14F-4D97-AF65-F5344CB8AC3E}">
        <p14:creationId xmlns:p14="http://schemas.microsoft.com/office/powerpoint/2010/main" val="2042348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36E1BE-D5C1-1A7C-226D-34F58F94A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262" y="589878"/>
            <a:ext cx="105156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– TOTAL CLICKS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3A06CB1-7938-619E-F969-D0533128D1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60" y="1586331"/>
            <a:ext cx="5305447" cy="408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C82075-3DFA-8F0F-133C-402CB8D8A6BE}"/>
              </a:ext>
            </a:extLst>
          </p:cNvPr>
          <p:cNvSpPr txBox="1"/>
          <p:nvPr/>
        </p:nvSpPr>
        <p:spPr>
          <a:xfrm>
            <a:off x="5611307" y="2217731"/>
            <a:ext cx="68509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distribution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clicks per user session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Majority of sessions have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to moderate number of clicks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Distribution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right-skewed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few highly active  users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Presence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high-click sessions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suggests strong user engagement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values represent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behavioral patterns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data errors</a:t>
            </a:r>
          </a:p>
        </p:txBody>
      </p:sp>
    </p:spTree>
    <p:extLst>
      <p:ext uri="{BB962C8B-B14F-4D97-AF65-F5344CB8AC3E}">
        <p14:creationId xmlns:p14="http://schemas.microsoft.com/office/powerpoint/2010/main" val="986592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8B91F2-2186-B3AC-8E48-2A52EDF4EA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815540"/>
            <a:ext cx="105156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– TOTAL CLICKS vs AVERAGE PRICE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5E9BEF4-157E-4BAC-D2B2-0F8BF8CC18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72" y="1915850"/>
            <a:ext cx="4818898" cy="353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2F7DCC-7327-BC40-C38C-BD27C39D4D07}"/>
              </a:ext>
            </a:extLst>
          </p:cNvPr>
          <p:cNvSpPr txBox="1"/>
          <p:nvPr/>
        </p:nvSpPr>
        <p:spPr>
          <a:xfrm>
            <a:off x="5771561" y="2491108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user engagement and product pricing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clicks mostly occur at moderate price range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high-priced products receive fewer interactions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negative correlation observed</a:t>
            </a:r>
          </a:p>
        </p:txBody>
      </p:sp>
    </p:spTree>
    <p:extLst>
      <p:ext uri="{BB962C8B-B14F-4D97-AF65-F5344CB8AC3E}">
        <p14:creationId xmlns:p14="http://schemas.microsoft.com/office/powerpoint/2010/main" val="1518902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9AF893-FC95-4CCB-E90E-438C856EA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8455" y="542163"/>
            <a:ext cx="105156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– CORRELATION HEATMAP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6C17FAB-2250-71CF-6953-3314A0D66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47310"/>
            <a:ext cx="5410985" cy="379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9338D5-C9DC-8030-21C2-DD21E9E7BDC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56255" y="2573594"/>
            <a:ext cx="541098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correlation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total_clicks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unique_products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avg_price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weak negative correlation with engagement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is_weekend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has minimal impact on user behavior</a:t>
            </a:r>
          </a:p>
        </p:txBody>
      </p:sp>
    </p:spTree>
    <p:extLst>
      <p:ext uri="{BB962C8B-B14F-4D97-AF65-F5344CB8AC3E}">
        <p14:creationId xmlns:p14="http://schemas.microsoft.com/office/powerpoint/2010/main" val="918284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C6-1D2F-6204-E288-AF5B28B6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000" y="529725"/>
            <a:ext cx="5632744" cy="791853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CREATION &amp; DATA PREPARATION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A7E8-198E-83D0-1564-DEED0FF7D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735" y="1276738"/>
            <a:ext cx="9407950" cy="43787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C5EEBE-0729-BE81-770B-D21520F0315B}"/>
              </a:ext>
            </a:extLst>
          </p:cNvPr>
          <p:cNvSpPr txBox="1"/>
          <p:nvPr/>
        </p:nvSpPr>
        <p:spPr>
          <a:xfrm>
            <a:off x="2836720" y="2804393"/>
            <a:ext cx="63279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BALANCING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F8B126-E1FF-8F40-B0E7-B8637B1B82EE}"/>
              </a:ext>
            </a:extLst>
          </p:cNvPr>
          <p:cNvSpPr txBox="1"/>
          <p:nvPr/>
        </p:nvSpPr>
        <p:spPr>
          <a:xfrm>
            <a:off x="3369041" y="1478758"/>
            <a:ext cx="64385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lang="en-US" dirty="0"/>
              <a:t>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</a:t>
            </a:r>
            <a:r>
              <a:rPr lang="en-US" dirty="0"/>
              <a:t> and prepared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feature scaling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27AA729-FF28-5CC2-D5AC-BDD7FFE5C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041" y="3486989"/>
            <a:ext cx="36407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Handled class imbalance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classification models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regression models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Performed customer segmentation</a:t>
            </a:r>
          </a:p>
        </p:txBody>
      </p:sp>
    </p:spTree>
    <p:extLst>
      <p:ext uri="{BB962C8B-B14F-4D97-AF65-F5344CB8AC3E}">
        <p14:creationId xmlns:p14="http://schemas.microsoft.com/office/powerpoint/2010/main" val="232319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65B59-5869-B3EE-177B-9943C71E8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832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MODEL COMPARISON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9EFA8C-E6C0-0BE9-D34F-C7ADECFE52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16" y="2004734"/>
            <a:ext cx="568311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213349-01D5-533B-F640-51E464C10CBF}"/>
              </a:ext>
            </a:extLst>
          </p:cNvPr>
          <p:cNvSpPr txBox="1"/>
          <p:nvPr/>
        </p:nvSpPr>
        <p:spPr>
          <a:xfrm>
            <a:off x="6714242" y="1936275"/>
            <a:ext cx="4758179" cy="4299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USED 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Logistic Regression, Decision Tree,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Random Forest, XGBoost, Neural Network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Accuracy, F1-Score, ROC-AUC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All models achieved 100% performance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MODEL 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Random Forest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Stable and reliable performance</a:t>
            </a:r>
          </a:p>
        </p:txBody>
      </p:sp>
    </p:spTree>
    <p:extLst>
      <p:ext uri="{BB962C8B-B14F-4D97-AF65-F5344CB8AC3E}">
        <p14:creationId xmlns:p14="http://schemas.microsoft.com/office/powerpoint/2010/main" val="2708428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3223F-83D4-8263-315A-2C40B1DA3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9213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MODELS COMPARISON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2D9E51E-2B2D-63EC-D4A1-9FCDCE7919C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11" y="1853904"/>
            <a:ext cx="507155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6F9B78-AB83-632A-E43F-EF9AD8559C85}"/>
              </a:ext>
            </a:extLst>
          </p:cNvPr>
          <p:cNvSpPr txBox="1"/>
          <p:nvPr/>
        </p:nvSpPr>
        <p:spPr>
          <a:xfrm>
            <a:off x="6308890" y="1696824"/>
            <a:ext cx="53426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MODELS USED:</a:t>
            </a:r>
          </a:p>
          <a:p>
            <a:r>
              <a:rPr lang="en-IN" dirty="0"/>
              <a:t>Linear Regression, Ridge, Lasso, Gradient Boosting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METRICS:</a:t>
            </a:r>
          </a:p>
          <a:p>
            <a:r>
              <a:rPr lang="en-IN" dirty="0"/>
              <a:t>RMSE, MAE, R² Score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RESULT:</a:t>
            </a:r>
          </a:p>
          <a:p>
            <a:r>
              <a:rPr lang="en-IN" dirty="0"/>
              <a:t>Gradient Boosting shows lowest error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BEST MODEL:</a:t>
            </a:r>
          </a:p>
          <a:p>
            <a:r>
              <a:rPr lang="en-IN" dirty="0"/>
              <a:t>Gradient Boosting Regressor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REASON:</a:t>
            </a:r>
          </a:p>
          <a:p>
            <a:r>
              <a:rPr lang="en-IN" dirty="0"/>
              <a:t>Lowest RMSE &amp; MAE and highest R² value</a:t>
            </a:r>
          </a:p>
        </p:txBody>
      </p:sp>
    </p:spTree>
    <p:extLst>
      <p:ext uri="{BB962C8B-B14F-4D97-AF65-F5344CB8AC3E}">
        <p14:creationId xmlns:p14="http://schemas.microsoft.com/office/powerpoint/2010/main" val="2617818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D725-F5AC-C7D7-F41F-24425E3BC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8896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MODELS COMPARISON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E4CCCBD-243A-5E58-6D95-3402FD3B74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041" y="1979617"/>
            <a:ext cx="4828042" cy="3986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C7BF83-30FC-C63B-BEE1-71A09FD0FC21}"/>
              </a:ext>
            </a:extLst>
          </p:cNvPr>
          <p:cNvSpPr txBox="1"/>
          <p:nvPr/>
        </p:nvSpPr>
        <p:spPr>
          <a:xfrm>
            <a:off x="6299462" y="1625306"/>
            <a:ext cx="51635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USED: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K-Means, DBSCAN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Silhouette Score, Davies-Bouldin Index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performed better than DBSCAN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MODEL: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Silhouette Score and lower DB Index</a:t>
            </a:r>
          </a:p>
        </p:txBody>
      </p:sp>
    </p:spTree>
    <p:extLst>
      <p:ext uri="{BB962C8B-B14F-4D97-AF65-F5344CB8AC3E}">
        <p14:creationId xmlns:p14="http://schemas.microsoft.com/office/powerpoint/2010/main" val="3887231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C2132-62FF-B965-3E2B-BBAAF8A8C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ELBOW METHOD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3F2532B-26D6-65E2-B543-8768150510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78" y="1987395"/>
            <a:ext cx="4901194" cy="357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76A903-4FDD-6844-3102-635FABA016B4}"/>
              </a:ext>
            </a:extLst>
          </p:cNvPr>
          <p:cNvSpPr txBox="1"/>
          <p:nvPr/>
        </p:nvSpPr>
        <p:spPr>
          <a:xfrm>
            <a:off x="7006473" y="2205389"/>
            <a:ext cx="39286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optimal number of clusters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Elbow Method using WCSS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Elbow point observed at k = 4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DECISION: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number of clusters = 4</a:t>
            </a:r>
          </a:p>
        </p:txBody>
      </p:sp>
    </p:spTree>
    <p:extLst>
      <p:ext uri="{BB962C8B-B14F-4D97-AF65-F5344CB8AC3E}">
        <p14:creationId xmlns:p14="http://schemas.microsoft.com/office/powerpoint/2010/main" val="1599045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5A895-0236-0C8A-62B6-B4E84F69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869891" cy="539848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HYPERPARAMETER TUNING</a:t>
            </a:r>
            <a:endParaRPr lang="en-IN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D5511E-4614-B1BD-79DE-005F4D6E39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23" y="1656732"/>
            <a:ext cx="5567265" cy="3954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403A6B2-C9DB-B7BF-A6BD-E04B483CC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7209" y="2239314"/>
            <a:ext cx="28007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INSIGHTS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2B825AD-37A7-6F17-2D4F-7AF9D36EA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908" y="2729562"/>
            <a:ext cx="443589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classification accuracy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RMSE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high R² score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 customer segments (silhouette score)</a:t>
            </a:r>
          </a:p>
        </p:txBody>
      </p:sp>
    </p:spTree>
    <p:extLst>
      <p:ext uri="{BB962C8B-B14F-4D97-AF65-F5344CB8AC3E}">
        <p14:creationId xmlns:p14="http://schemas.microsoft.com/office/powerpoint/2010/main" val="861916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8AAB9-E75C-4BD3-FC2B-C89F6ADA7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480" y="424206"/>
            <a:ext cx="11472422" cy="669302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IN" sz="1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 PREDICTION – CLASSIFICATION EVALUATION 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424E3E-BE5B-3684-7EC4-647450EC1C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69" y="1824085"/>
            <a:ext cx="5620722" cy="427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B69793-7915-EE9D-19C5-6687DE835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184" y="2718759"/>
            <a:ext cx="28007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EE0FA-C825-0AC7-CD46-B46FEDDBB3F3}"/>
              </a:ext>
            </a:extLst>
          </p:cNvPr>
          <p:cNvSpPr txBox="1"/>
          <p:nvPr/>
        </p:nvSpPr>
        <p:spPr>
          <a:xfrm>
            <a:off x="6221691" y="3088091"/>
            <a:ext cx="6174556" cy="1571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very high accuracy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classified majority of converted and non-converted users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classification errors observed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model performance with clear class separation</a:t>
            </a:r>
          </a:p>
        </p:txBody>
      </p:sp>
    </p:spTree>
    <p:extLst>
      <p:ext uri="{BB962C8B-B14F-4D97-AF65-F5344CB8AC3E}">
        <p14:creationId xmlns:p14="http://schemas.microsoft.com/office/powerpoint/2010/main" val="934316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A73180-7E1C-7AF2-0276-02111DC3FF0C}"/>
              </a:ext>
            </a:extLst>
          </p:cNvPr>
          <p:cNvSpPr txBox="1"/>
          <p:nvPr/>
        </p:nvSpPr>
        <p:spPr>
          <a:xfrm>
            <a:off x="490193" y="771310"/>
            <a:ext cx="12094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PREDICTION  –  REGRESSION (GRADIENT BOOSTING)</a:t>
            </a:r>
            <a:endParaRPr lang="en-IN" sz="2800" b="1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0895EC87-0A67-AA65-3437-18CCD4A8C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06" y="1841465"/>
            <a:ext cx="4875227" cy="438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8E4A3-B97A-35DA-A60A-7399A5E89FD2}"/>
              </a:ext>
            </a:extLst>
          </p:cNvPr>
          <p:cNvSpPr txBox="1"/>
          <p:nvPr/>
        </p:nvSpPr>
        <p:spPr>
          <a:xfrm>
            <a:off x="6678890" y="2931810"/>
            <a:ext cx="4609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A0EF2-39BC-8F40-8180-CFCF0D3CB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890" y="3301142"/>
            <a:ext cx="53142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shows strong prediction accuracy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Predicted revenue closely matches actual revenue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error and high model reliability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 revenue estimation</a:t>
            </a:r>
          </a:p>
        </p:txBody>
      </p:sp>
    </p:spTree>
    <p:extLst>
      <p:ext uri="{BB962C8B-B14F-4D97-AF65-F5344CB8AC3E}">
        <p14:creationId xmlns:p14="http://schemas.microsoft.com/office/powerpoint/2010/main" val="292965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EFAD1-B4A7-9900-7692-367D9B292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536" y="709957"/>
            <a:ext cx="10482605" cy="59389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– CLUSTERING  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50CE1B1-3971-6C83-0A0A-78820FAAA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65" y="2017336"/>
            <a:ext cx="5516436" cy="4130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D7E3B7-BD42-A73D-FAF0-55BDB72679B8}"/>
              </a:ext>
            </a:extLst>
          </p:cNvPr>
          <p:cNvSpPr txBox="1"/>
          <p:nvPr/>
        </p:nvSpPr>
        <p:spPr>
          <a:xfrm>
            <a:off x="6619896" y="2638613"/>
            <a:ext cx="4609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INSIGHTS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35560BD-6678-C617-284A-CD05E63D7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96" y="3142382"/>
            <a:ext cx="468589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 are grouped into distinct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K-Means identifies similar behavior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separation between segments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targeted marketing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290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BEE1-F33E-4D9B-DED7-E69C3897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463779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 CHECK &amp; MODEL DEPLOYMENT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C4615-806F-802D-1593-E0E2A61B3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447"/>
            <a:ext cx="10515600" cy="4753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Overfitting Analysis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54C8-1B80-D98C-D2DA-465AE019B637}"/>
              </a:ext>
            </a:extLst>
          </p:cNvPr>
          <p:cNvSpPr txBox="1">
            <a:spLocks/>
          </p:cNvSpPr>
          <p:nvPr/>
        </p:nvSpPr>
        <p:spPr>
          <a:xfrm>
            <a:off x="1514573" y="3172773"/>
            <a:ext cx="10515600" cy="2841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Deployment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integrated into web application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input data and get predictions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for real-time revenue prediction</a:t>
            </a:r>
          </a:p>
          <a:p>
            <a:pPr marL="0" indent="0">
              <a:buNone/>
            </a:pPr>
            <a:endParaRPr lang="en-US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7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E97D752-B65D-945A-8631-00E078550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0305" y="1923899"/>
            <a:ext cx="534973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training and testing performance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Minimal difference between train &amp; test scores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generalizes well to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unseen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4069077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316DE-0CB3-45D1-54E0-4206C4FA9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 APPLICATION &amp; USER INTERFACE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63EF4-10E2-4114-FA70-89D2D6D1C58B}"/>
              </a:ext>
            </a:extLst>
          </p:cNvPr>
          <p:cNvSpPr txBox="1"/>
          <p:nvPr/>
        </p:nvSpPr>
        <p:spPr>
          <a:xfrm>
            <a:off x="397497" y="601509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Figure: Real-Time Customer Conversion Prediction Interface</a:t>
            </a:r>
            <a:endParaRPr lang="en-IN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4D328FD8-A53D-7158-C249-A44909FFDF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53" r="-585" b="1"/>
          <a:stretch>
            <a:fillRect/>
          </a:stretch>
        </p:blipFill>
        <p:spPr>
          <a:xfrm>
            <a:off x="371421" y="1397065"/>
            <a:ext cx="7625892" cy="42861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27EC1C-A1F6-C3B9-FBBB-4BF052044CB7}"/>
              </a:ext>
            </a:extLst>
          </p:cNvPr>
          <p:cNvSpPr txBox="1"/>
          <p:nvPr/>
        </p:nvSpPr>
        <p:spPr>
          <a:xfrm>
            <a:off x="8306586" y="198195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27EFA74-E855-0A7C-7F03-FC88088EC6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87003" y="2351286"/>
            <a:ext cx="420499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Predicts customer conversion probability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Estimates expected revenue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customer segment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decision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429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64FE-2BFC-C983-73FA-67CC2686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50" y="68103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6BFFAF-6A24-EC21-3157-C078FE84C1F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7D565B-1C60-21CE-06F0-4F6AF557DF96}"/>
              </a:ext>
            </a:extLst>
          </p:cNvPr>
          <p:cNvSpPr txBox="1"/>
          <p:nvPr/>
        </p:nvSpPr>
        <p:spPr>
          <a:xfrm>
            <a:off x="3141482" y="2127084"/>
            <a:ext cx="7086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end-to-end customer conversion prediction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accurate insights using ML and clickstream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interactive Streamlit web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real-time, data-driven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1283179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4881</TotalTime>
  <Words>833</Words>
  <Application>Microsoft Office PowerPoint</Application>
  <PresentationFormat>Widescreen</PresentationFormat>
  <Paragraphs>223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WORK FLOW</vt:lpstr>
      <vt:lpstr>DATASET OVERVIEW &amp; DATA PREPROCESSING </vt:lpstr>
      <vt:lpstr>FEATURE ENGINEERING &amp; BEHAVIOURAL METRICS</vt:lpstr>
      <vt:lpstr>OUTLIER DETECTION </vt:lpstr>
      <vt:lpstr>UNIVARIATE ANALYSIS – TOTAL CLICKS </vt:lpstr>
      <vt:lpstr>BIVARIATE ANALYSIS – TOTAL CLICKS vs AVERAGE PRICE </vt:lpstr>
      <vt:lpstr>MULTIVARIATE ANALYSIS – CORRELATION HEATMAP </vt:lpstr>
      <vt:lpstr>TARGET CREATION &amp; DATA PREPARATION </vt:lpstr>
      <vt:lpstr>CLASSIFICATION MODEL COMPARISON</vt:lpstr>
      <vt:lpstr>REGRESSION MODELS COMPARISON</vt:lpstr>
      <vt:lpstr>CLUSTERING MODELS COMPARISON</vt:lpstr>
      <vt:lpstr>ELBOW METHOD </vt:lpstr>
      <vt:lpstr>MODEL EVALUATION &amp; HYPERPARAMETER TUNING</vt:lpstr>
      <vt:lpstr>CUSTOMER CONVERSION PREDICTION – CLASSIFICATION EVALUATION </vt:lpstr>
      <vt:lpstr>PowerPoint Presentation</vt:lpstr>
      <vt:lpstr>CUSTOMER SEGMENTATION – CLUSTERING  </vt:lpstr>
      <vt:lpstr>OVERFITTING CHECK &amp; MODEL DEPLOYMENT </vt:lpstr>
      <vt:lpstr>STREAMLIT APPLICATION &amp; USER INTERFACE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logesh kumar</dc:creator>
  <cp:lastModifiedBy>logesh kumar</cp:lastModifiedBy>
  <cp:revision>26</cp:revision>
  <dcterms:created xsi:type="dcterms:W3CDTF">2026-01-23T12:23:13Z</dcterms:created>
  <dcterms:modified xsi:type="dcterms:W3CDTF">2026-05-02T08:06:19Z</dcterms:modified>
</cp:coreProperties>
</file>